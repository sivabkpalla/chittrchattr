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~40s
Open with the brand: Enzo. Say this talk is not about scoreboards — it is about why Enzo’s design best answers Crescendo’s engineering problem. Mention Team 1577 Steampunk (Raanana, Israel). Note: Crescendo was the FRC game for the 2024 season; we will not discuss match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~35s
Introduce Enzo and Steampunk briefly. Frame Crescendo in one sentence. Explicitly set the evaluation lens: design excellence, not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~45s
Walk the five demands. Emphasize that Crescendo punished one-trick robots: Speaker alone, Amp alone, or climb-only rarely defined excellence. Enzo’s case starts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~40s
Read the five criteria as the rubric for the rest of the talk. Preview that Enzo earns each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~40s
Reference the public rebuild narrative (Chief Delphi reveal titled Enzo 2024 Ready for World Championship) without mentioning outcomes. Argue that willingness to rebuild is itself a reason Enzo is “best.”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~35s
Keep claims qualitative. Stress that Enzo’s value starts with possession quality, not flashy scoring animations.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~40s
Argue dual-mode scoring without citing points or match clips as proof of ranking. Focus on decision freedom for drivers and alliance partners.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~35s
Avoid trap-score debates that imply outcomes. Emphasize design balance: teleop identity preserved, endgame still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~40s
Keep this accessible for a general audience. Software is the multiplier that makes Enzo’s mechanisms feel like the best robot, not merely a capable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~50s
This is the thesis slide. Deliver the five reasons with pause and emphasis. Do not slip into results language.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~30s + Q&amp;A
Close on the line. Invite questions about design choices, rebuild culture, or Crescendo strategy — still no results talk unless someone asks; if they do, redirect to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496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200" b="1">
                <a:solidFill>
                  <a:srgbClr val="C4964A"/>
                </a:solidFill>
                <a:latin typeface="Georgia"/>
              </a:rPr>
              <a:t>ENZO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solidFill>
                  <a:srgbClr val="F2EBDF"/>
                </a:solidFill>
                <a:latin typeface="Georgia"/>
              </a:rPr>
              <a:t>Why Enzo is the best robot of FRC Crescendo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A8A093"/>
                </a:solidFill>
                <a:latin typeface="Calibri"/>
              </a:rPr>
              <a:t>Team 1577 Steampunk  ·  A design-first argument  ·  5–7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A8A093"/>
                </a:solidFill>
                <a:latin typeface="Calibri"/>
              </a:rPr>
              <a:t>ENZO  ·  FRC Crescendo  ·  Team 1577 Steampunk  ·  1/11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496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4964A"/>
                </a:solidFill>
                <a:latin typeface="Calibri"/>
              </a:rPr>
              <a:t>MEET THE ROBOT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2EBDF"/>
                </a:solidFill>
                <a:latin typeface="Georgia"/>
              </a:rPr>
              <a:t>Enzo, built by Steampunk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A8A093"/>
                </a:solidFill>
                <a:latin typeface="Calibri"/>
              </a:rPr>
              <a:t>FRC Team 1577 — Aviv High School, Raanana — for the Crescendo game challenge.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3474720" cy="3108960"/>
          </a:xfrm>
          <a:prstGeom prst="roundRect">
            <a:avLst>
              <a:gd name="adj" fmla="val 8000"/>
            </a:avLst>
          </a:prstGeom>
          <a:solidFill>
            <a:srgbClr val="1E2228"/>
          </a:solidFill>
          <a:ln w="12700">
            <a:solidFill>
              <a:srgbClr val="3A3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69748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4964A"/>
                </a:solidFill>
                <a:latin typeface="Georgia"/>
              </a:rPr>
              <a:t>Who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46120"/>
            <a:ext cx="30175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2EBDF"/>
                </a:solidFill>
                <a:latin typeface="Calibri"/>
              </a:rPr>
              <a:t>Enzo is Steampunk’s Crescendo competition robot — named, iterated, and prepared as a complete field machine, not a collection of demos.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468880"/>
            <a:ext cx="3474720" cy="3108960"/>
          </a:xfrm>
          <a:prstGeom prst="roundRect">
            <a:avLst>
              <a:gd name="adj" fmla="val 8000"/>
            </a:avLst>
          </a:prstGeom>
          <a:solidFill>
            <a:srgbClr val="1E2228"/>
          </a:solidFill>
          <a:ln w="12700">
            <a:solidFill>
              <a:srgbClr val="3A3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69748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4964A"/>
                </a:solidFill>
                <a:latin typeface="Georgia"/>
              </a:rPr>
              <a:t>What game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246120"/>
            <a:ext cx="30175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2EBDF"/>
                </a:solidFill>
                <a:latin typeface="Calibri"/>
              </a:rPr>
              <a:t>Crescendo asks robots to collect foam Notes, score into the Speaker and Amp, and finish on Stage — under defense and time pressure.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468880"/>
            <a:ext cx="3474720" cy="3108960"/>
          </a:xfrm>
          <a:prstGeom prst="roundRect">
            <a:avLst>
              <a:gd name="adj" fmla="val 8000"/>
            </a:avLst>
          </a:prstGeom>
          <a:solidFill>
            <a:srgbClr val="1E2228"/>
          </a:solidFill>
          <a:ln w="12700">
            <a:solidFill>
              <a:srgbClr val="3A3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69748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4964A"/>
                </a:solidFill>
                <a:latin typeface="Georgia"/>
              </a:rPr>
              <a:t>Our lens 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3246120"/>
            <a:ext cx="30175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2EBDF"/>
                </a:solidFill>
                <a:latin typeface="Calibri"/>
              </a:rPr>
              <a:t>We judge Enzo by design quality: clarity of strategy, mechanism fit, adaptability, and alliance value — never by match tallies.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A8A093"/>
                </a:solidFill>
                <a:latin typeface="Calibri"/>
              </a:rPr>
              <a:t>ENZO  ·  FRC Crescendo  ·  Team 1577 Steampunk  ·  2/11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496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4964A"/>
                </a:solidFill>
                <a:latin typeface="Calibri"/>
              </a:rPr>
              <a:t>THE PROBLEM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2EBDF"/>
                </a:solidFill>
                <a:latin typeface="Georgia"/>
              </a:rPr>
              <a:t>What Crescendo demanded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A8A093"/>
                </a:solidFill>
                <a:latin typeface="Calibri"/>
              </a:rPr>
              <a:t>A “best” robot is the one whose architecture fits the game’s constraints cleanly.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F2EBDF"/>
                </a:solidFill>
                <a:latin typeface="Calibri"/>
              </a:rPr>
              <a:t>Ground and Source acquisition of Notes with high forgiveness under contact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F2EBDF"/>
                </a:solidFill>
                <a:latin typeface="Calibri"/>
              </a:rPr>
              <a:t>Fast, accurate Speaker cycles while still creating Amp leverage for the alliance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F2EBDF"/>
                </a:solidFill>
                <a:latin typeface="Calibri"/>
              </a:rPr>
              <a:t>Endgame Stage presence — climb readiness without destroying the scoring machine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F2EBDF"/>
                </a:solidFill>
                <a:latin typeface="Calibri"/>
              </a:rPr>
              <a:t>Mobility that survives defense: translation, rotation, and recovery under load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F2EBDF"/>
                </a:solidFill>
                <a:latin typeface="Calibri"/>
              </a:rPr>
              <a:t>Software that turns mechanisms into consistent driver workflows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A8A093"/>
                </a:solidFill>
                <a:latin typeface="Calibri"/>
              </a:rPr>
              <a:t>ENZO  ·  FRC Crescendo  ·  Team 1577 Steampunk  ·  3/11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496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4964A"/>
                </a:solidFill>
                <a:latin typeface="Calibri"/>
              </a:rPr>
              <a:t>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2EBDF"/>
                </a:solidFill>
                <a:latin typeface="Georgia"/>
              </a:rPr>
              <a:t>How we define “best”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A8A093"/>
                </a:solidFill>
                <a:latin typeface="Calibri"/>
              </a:rPr>
              <a:t>If we ban the scoreboard, we need a sharper scorecard.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4964A"/>
                </a:solidFill>
                <a:latin typeface="Georgia"/>
              </a:rPr>
              <a:t>Strategy clarity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224028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2EBDF"/>
                </a:solidFill>
                <a:latin typeface="Calibri"/>
              </a:rPr>
              <a:t>Every major subsystem serves a coherent game plan.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4964A"/>
                </a:solidFill>
                <a:latin typeface="Georgia"/>
              </a:rPr>
              <a:t>Cycle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92608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2EBDF"/>
                </a:solidFill>
                <a:latin typeface="Calibri"/>
              </a:rPr>
              <a:t>Intake → control → score is short, stable, and repeatable.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611880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4964A"/>
                </a:solidFill>
                <a:latin typeface="Georgia"/>
              </a:rPr>
              <a:t>Role flexibility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361188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2EBDF"/>
                </a:solidFill>
                <a:latin typeface="Calibri"/>
              </a:rPr>
              <a:t>Useful as scorer, cleaner, or endgame partner.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4964A"/>
                </a:solidFill>
                <a:latin typeface="Georgia"/>
              </a:rPr>
              <a:t>Iteration courage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429768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2EBDF"/>
                </a:solidFill>
                <a:latin typeface="Calibri"/>
              </a:rPr>
              <a:t>The team redesigns when the field teaches a better truth.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83480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4964A"/>
                </a:solidFill>
                <a:latin typeface="Georgia"/>
              </a:rPr>
              <a:t>Driver trust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498348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2EBDF"/>
                </a:solidFill>
                <a:latin typeface="Calibri"/>
              </a:rPr>
              <a:t>The robot makes hard things feel ordinary at the controls.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A8A093"/>
                </a:solidFill>
                <a:latin typeface="Calibri"/>
              </a:rPr>
              <a:t>ENZO  ·  FRC Crescendo  ·  Team 1577 Steampunk  ·  4/11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496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4964A"/>
                </a:solidFill>
                <a:latin typeface="Calibri"/>
              </a:rPr>
              <a:t>DESIGN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2EBDF"/>
                </a:solidFill>
                <a:latin typeface="Georgia"/>
              </a:rPr>
              <a:t>Enzo was rebuilt when it had to 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A8A093"/>
                </a:solidFill>
                <a:latin typeface="Calibri"/>
              </a:rPr>
              <a:t>After early district play, Steampunk chose substantial redesign before championship stretch — a hallmark of elite engineering culture.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F2EBDF"/>
                </a:solidFill>
                <a:latin typeface="Calibri"/>
              </a:rPr>
              <a:t>Best robots are not frozen at bag day — they are updated when reality disagrees with CAD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F2EBDF"/>
                </a:solidFill>
                <a:latin typeface="Calibri"/>
              </a:rPr>
              <a:t>A mid-season rebuild signals ruthless prioritization: keep what works, cut what fights the game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F2EBDF"/>
                </a:solidFill>
                <a:latin typeface="Calibri"/>
              </a:rPr>
              <a:t>Enzo’s identity is improvement under pressure — the machine evolves toward the field’s true meta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F2EBDF"/>
                </a:solidFill>
                <a:latin typeface="Calibri"/>
              </a:rPr>
              <a:t>That discipline is rarer than clever mechanisms, and more decisive than either alone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A8A093"/>
                </a:solidFill>
                <a:latin typeface="Calibri"/>
              </a:rPr>
              <a:t>ENZO  ·  FRC Crescendo  ·  Team 1577 Steampunk  ·  5/11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496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4964A"/>
                </a:solidFill>
                <a:latin typeface="Calibri"/>
              </a:rPr>
              <a:t>SUBSYSTEM 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2EBDF"/>
                </a:solidFill>
                <a:latin typeface="Georgia"/>
              </a:rPr>
              <a:t>Notes first: possession is power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A8A093"/>
                </a:solidFill>
                <a:latin typeface="Calibri"/>
              </a:rPr>
              <a:t>In Crescendo, the robot that owns Notes controls tempo.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5394960" cy="3200400"/>
          </a:xfrm>
          <a:prstGeom prst="roundRect">
            <a:avLst>
              <a:gd name="adj" fmla="val 8000"/>
            </a:avLst>
          </a:prstGeom>
          <a:solidFill>
            <a:srgbClr val="1E2228"/>
          </a:solidFill>
          <a:ln w="12700">
            <a:solidFill>
              <a:srgbClr val="3A3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697480"/>
            <a:ext cx="4937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4964A"/>
                </a:solidFill>
                <a:latin typeface="Georgia"/>
              </a:rPr>
              <a:t>Acquisition philosophy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46120"/>
            <a:ext cx="49377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2EBDF"/>
                </a:solidFill>
                <a:latin typeface="Calibri"/>
              </a:rPr>
              <a:t>A best-in-class Crescendo bot treats intake as a reliability problem: wide capture, quick centering, and handoff that never asks the driver for perfect alignment.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468880"/>
            <a:ext cx="5212080" cy="3200400"/>
          </a:xfrm>
          <a:prstGeom prst="roundRect">
            <a:avLst>
              <a:gd name="adj" fmla="val 8000"/>
            </a:avLst>
          </a:prstGeom>
          <a:solidFill>
            <a:srgbClr val="1E2228"/>
          </a:solidFill>
          <a:ln w="12700">
            <a:solidFill>
              <a:srgbClr val="3A3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69748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4964A"/>
                </a:solidFill>
                <a:latin typeface="Georgia"/>
              </a:rPr>
              <a:t>Why Enzo wins here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3246120"/>
            <a:ext cx="475488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2EBDF"/>
                </a:solidFill>
                <a:latin typeface="Calibri"/>
              </a:rPr>
              <a:t>Enzo’s architecture is organized around uninterrupted Note flow — ground cleanup and Source cycles feed the same scoring path, so every possession becomes an alliance asset.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A8A093"/>
                </a:solidFill>
                <a:latin typeface="Calibri"/>
              </a:rPr>
              <a:t>ENZO  ·  FRC Crescendo  ·  Team 1577 Steampunk  ·  6/11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496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4964A"/>
                </a:solidFill>
                <a:latin typeface="Calibri"/>
              </a:rPr>
              <a:t>SCORING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2EBDF"/>
                </a:solidFill>
                <a:latin typeface="Georgia"/>
              </a:rPr>
              <a:t>Speaker threat + Amp utility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A8A093"/>
                </a:solidFill>
                <a:latin typeface="Calibri"/>
              </a:rPr>
              <a:t>Crescendo rewarded robots that could pressure both scoring modes without becoming two half-finished machines.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F2EBDF"/>
                </a:solidFill>
                <a:latin typeface="Calibri"/>
              </a:rPr>
              <a:t>Speaker capability creates continuous cycle pressure across the field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F2EBDF"/>
                </a:solidFill>
                <a:latin typeface="Calibri"/>
              </a:rPr>
              <a:t>Amp capability turns alliance coordination into leverage, not a side quest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F2EBDF"/>
                </a:solidFill>
                <a:latin typeface="Calibri"/>
              </a:rPr>
              <a:t>A unified scoring package lets drivers choose the right action for congestion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F2EBDF"/>
                </a:solidFill>
                <a:latin typeface="Calibri"/>
              </a:rPr>
              <a:t>Enzo’s “best” claim is versatility under chaos — not a single highlight reel shot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A8A093"/>
                </a:solidFill>
                <a:latin typeface="Calibri"/>
              </a:rPr>
              <a:t>ENZO  ·  FRC Crescendo  ·  Team 1577 Steampunk  ·  7/11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496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4964A"/>
                </a:solidFill>
                <a:latin typeface="Calibri"/>
              </a:rPr>
              <a:t>ENDGAME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2EBDF"/>
                </a:solidFill>
                <a:latin typeface="Georgia"/>
              </a:rPr>
              <a:t>Stage-ready without compromise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A8A093"/>
                </a:solidFill>
                <a:latin typeface="Calibri"/>
              </a:rPr>
              <a:t>Climbing only matters if the robot can still score for 2:15 first.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5394960" cy="3200400"/>
          </a:xfrm>
          <a:prstGeom prst="roundRect">
            <a:avLst>
              <a:gd name="adj" fmla="val 8000"/>
            </a:avLst>
          </a:prstGeom>
          <a:solidFill>
            <a:srgbClr val="1E2228"/>
          </a:solidFill>
          <a:ln w="12700">
            <a:solidFill>
              <a:srgbClr val="3A3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697480"/>
            <a:ext cx="4937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4964A"/>
                </a:solidFill>
                <a:latin typeface="Georgia"/>
              </a:rPr>
              <a:t>The trap many robots fall into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46120"/>
            <a:ext cx="49377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2EBDF"/>
                </a:solidFill>
                <a:latin typeface="Calibri"/>
              </a:rPr>
              <a:t>Designs that chase every endgame flourish often weaken teleop throughput. Best Crescendo robots protect cycle identity first, then add Stage presence that does not sabotage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468880"/>
            <a:ext cx="5212080" cy="3200400"/>
          </a:xfrm>
          <a:prstGeom prst="roundRect">
            <a:avLst>
              <a:gd name="adj" fmla="val 8000"/>
            </a:avLst>
          </a:prstGeom>
          <a:solidFill>
            <a:srgbClr val="1E2228"/>
          </a:solidFill>
          <a:ln w="12700">
            <a:solidFill>
              <a:srgbClr val="3A3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69748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4964A"/>
                </a:solidFill>
                <a:latin typeface="Georgia"/>
              </a:rPr>
              <a:t>Enzo’s balance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3246120"/>
            <a:ext cx="475488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2EBDF"/>
                </a:solidFill>
                <a:latin typeface="Calibri"/>
              </a:rPr>
              <a:t>Enzo is built as a full-match robot: scoring integrity through teleop, then a credible Stage finish. That balance is why alliances trust the machine in high-stakes minutes.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A8A093"/>
                </a:solidFill>
                <a:latin typeface="Calibri"/>
              </a:rPr>
              <a:t>ENZO  ·  FRC Crescendo  ·  Team 1577 Steampunk  ·  8/11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496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4964A"/>
                </a:solidFill>
                <a:latin typeface="Calibri"/>
              </a:rPr>
              <a:t>HUMAN–MACHINE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2EBDF"/>
                </a:solidFill>
                <a:latin typeface="Georgia"/>
              </a:rPr>
              <a:t>Software makes Enzo feel inevitable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A8A093"/>
                </a:solidFill>
                <a:latin typeface="Calibri"/>
              </a:rPr>
              <a:t>Hardware sets the ceiling. Controls decide whether drivers actually reach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F2EBDF"/>
                </a:solidFill>
                <a:latin typeface="Calibri"/>
              </a:rPr>
              <a:t>State-aware scoring workflows reduce button chaos in the final 30 seconds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F2EBDF"/>
                </a:solidFill>
                <a:latin typeface="Calibri"/>
              </a:rPr>
              <a:t>Vision and pose awareness turn “almost lined up” into “ready to release”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F2EBDF"/>
                </a:solidFill>
                <a:latin typeface="Calibri"/>
              </a:rPr>
              <a:t>Autonomous routines that respect real sensor feedback teach the teleop machine honesty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F2EBDF"/>
                </a:solidFill>
                <a:latin typeface="Calibri"/>
              </a:rPr>
              <a:t>When drivers trust the robot, strategy expands — that is competitive excellence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A8A093"/>
                </a:solidFill>
                <a:latin typeface="Calibri"/>
              </a:rPr>
              <a:t>ENZO  ·  FRC Crescendo  ·  Team 1577 Steampunk  ·  9/11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496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4964A"/>
                </a:solidFill>
                <a:latin typeface="Calibri"/>
              </a:rPr>
              <a:t>THE ARGUMENT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2EBDF"/>
                </a:solidFill>
                <a:latin typeface="Georgia"/>
              </a:rPr>
              <a:t>Why Enzo is the best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A8A093"/>
                </a:solidFill>
                <a:latin typeface="Calibri"/>
              </a:rPr>
              <a:t>Five reasons — all design, no scoreboard.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240280"/>
            <a:ext cx="438912" cy="438912"/>
          </a:xfrm>
          <a:prstGeom prst="ellipse">
            <a:avLst/>
          </a:prstGeom>
          <a:solidFill>
            <a:srgbClr val="C496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438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14161A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28600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F2EBDF"/>
                </a:solidFill>
                <a:latin typeface="Calibri"/>
              </a:rPr>
              <a:t>It answers Crescendo’s real problem: Notes, dual scoring modes, and Stage.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98648"/>
            <a:ext cx="438912" cy="438912"/>
          </a:xfrm>
          <a:prstGeom prst="ellipse">
            <a:avLst/>
          </a:prstGeom>
          <a:solidFill>
            <a:srgbClr val="C496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944368"/>
            <a:ext cx="438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14161A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944368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F2EBDF"/>
                </a:solidFill>
                <a:latin typeface="Calibri"/>
              </a:rPr>
              <a:t>It was rebuilt with courage when the field demanded a better machine.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557016"/>
            <a:ext cx="438912" cy="438912"/>
          </a:xfrm>
          <a:prstGeom prst="ellipse">
            <a:avLst/>
          </a:prstGeom>
          <a:solidFill>
            <a:srgbClr val="C496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602736"/>
            <a:ext cx="438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14161A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602736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F2EBDF"/>
                </a:solidFill>
                <a:latin typeface="Calibri"/>
              </a:rPr>
              <a:t>It prioritizes possession quality — the root of every Crescendo strategy.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4215384"/>
            <a:ext cx="438912" cy="438912"/>
          </a:xfrm>
          <a:prstGeom prst="ellipse">
            <a:avLst/>
          </a:prstGeom>
          <a:solidFill>
            <a:srgbClr val="C496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261104"/>
            <a:ext cx="438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14161A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261104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F2EBDF"/>
                </a:solidFill>
                <a:latin typeface="Calibri"/>
              </a:rPr>
              <a:t>It stays versatile: Speaker pressure and Amp utility in one package.</a:t>
            </a:r>
          </a:p>
        </p:txBody>
      </p:sp>
      <p:sp>
        <p:nvSpPr>
          <p:cNvPr id="19" name="Oval 18"/>
          <p:cNvSpPr/>
          <p:nvPr/>
        </p:nvSpPr>
        <p:spPr>
          <a:xfrm>
            <a:off x="685800" y="4873752"/>
            <a:ext cx="438912" cy="438912"/>
          </a:xfrm>
          <a:prstGeom prst="ellipse">
            <a:avLst/>
          </a:prstGeom>
          <a:solidFill>
            <a:srgbClr val="C496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919472"/>
            <a:ext cx="438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14161A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919472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F2EBDF"/>
                </a:solidFill>
                <a:latin typeface="Calibri"/>
              </a:rPr>
              <a:t>It closes the loop with software drivers can trust under defense.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A8A093"/>
                </a:solidFill>
                <a:latin typeface="Calibri"/>
              </a:rPr>
              <a:t>ENZO  ·  FRC Crescendo  ·  Team 1577 Steampunk  ·  10/11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496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2EBDF"/>
                </a:solidFill>
                <a:latin typeface="Georgia"/>
              </a:rPr>
              <a:t>Enzo is best because it was designed to be.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918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A8A093"/>
                </a:solidFill>
                <a:latin typeface="Calibri"/>
              </a:rPr>
              <a:t>Not because of a bracket. Because Steampunk built a Crescendo robot with clear strategy, fearless iteration, and mechanisms that serve drivers — and alliances.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8463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C4964A"/>
                </a:solidFill>
                <a:latin typeface="Georgia"/>
              </a:rPr>
              <a:t>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A8A093"/>
                </a:solidFill>
                <a:latin typeface="Calibri"/>
              </a:rPr>
              <a:t>ENZO  ·  FRC Crescendo  ·  Team 1577 Steampunk  ·  11/11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